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Pyêtro. Abertura, 20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Pyêtro. 45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Pyêtro. 40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Pyêtro. 55 segundos. Justificativa empírica, não suposição.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Pyêtro. 40 segundos. Encerra a primeira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Matheus. 50 segundos. Ler as matrizes: Iris erra entre versicolor e virginica; Wine o MLP acerta 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Matheus. 45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Matheus. 55 segundos. Comparação é critério de avaliação — não correr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Matheus. 45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Matheus. 25 segundos. Colar o link do vídeo antes de enviar.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rive.google.com/file/d/1eEwNQ3uJIM0UQ1xQs3mw9czmKX-vN0mB/view?usp=shar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1371600"/>
            <a:ext cx="274320" cy="274320"/>
          </a:xfrm>
          <a:prstGeom prst="ellipse">
            <a:avLst/>
          </a:prstGeom>
          <a:solidFill>
            <a:srgbClr val="5B3E8E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78040" y="1371600"/>
            <a:ext cx="274320" cy="274320"/>
          </a:xfrm>
          <a:prstGeom prst="ellipse">
            <a:avLst/>
          </a:prstGeom>
          <a:solidFill>
            <a:srgbClr val="5B3E8E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1371600"/>
            <a:ext cx="274320" cy="274320"/>
          </a:xfrm>
          <a:prstGeom prst="ellipse">
            <a:avLst/>
          </a:prstGeom>
          <a:solidFill>
            <a:srgbClr val="5B3E8E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83880" y="1371600"/>
            <a:ext cx="274320" cy="274320"/>
          </a:xfrm>
          <a:prstGeom prst="ellipse">
            <a:avLst/>
          </a:prstGeom>
          <a:solidFill>
            <a:srgbClr val="5B3E8E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75120" y="1874520"/>
            <a:ext cx="274320" cy="274320"/>
          </a:xfrm>
          <a:prstGeom prst="ellipse">
            <a:avLst/>
          </a:prstGeom>
          <a:solidFill>
            <a:srgbClr val="7FA88C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78040" y="1874520"/>
            <a:ext cx="274320" cy="274320"/>
          </a:xfrm>
          <a:prstGeom prst="ellipse">
            <a:avLst/>
          </a:prstGeom>
          <a:solidFill>
            <a:srgbClr val="7FA88C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1874520"/>
            <a:ext cx="274320" cy="274320"/>
          </a:xfrm>
          <a:prstGeom prst="ellipse">
            <a:avLst/>
          </a:prstGeom>
          <a:solidFill>
            <a:srgbClr val="7FA88C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83880" y="1874520"/>
            <a:ext cx="274320" cy="274320"/>
          </a:xfrm>
          <a:prstGeom prst="ellipse">
            <a:avLst/>
          </a:prstGeom>
          <a:solidFill>
            <a:srgbClr val="7FA88C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377440"/>
            <a:ext cx="274320" cy="274320"/>
          </a:xfrm>
          <a:prstGeom prst="ellipse">
            <a:avLst/>
          </a:prstGeom>
          <a:solidFill>
            <a:srgbClr val="D99A3E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178040" y="2377440"/>
            <a:ext cx="274320" cy="274320"/>
          </a:xfrm>
          <a:prstGeom prst="ellipse">
            <a:avLst/>
          </a:prstGeom>
          <a:solidFill>
            <a:srgbClr val="D99A3E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680960" y="2377440"/>
            <a:ext cx="274320" cy="274320"/>
          </a:xfrm>
          <a:prstGeom prst="ellipse">
            <a:avLst/>
          </a:prstGeom>
          <a:solidFill>
            <a:srgbClr val="D99A3E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183880" y="2377440"/>
            <a:ext cx="274320" cy="274320"/>
          </a:xfrm>
          <a:prstGeom prst="ellipse">
            <a:avLst/>
          </a:prstGeom>
          <a:solidFill>
            <a:srgbClr val="D99A3E">
              <a:alpha val="80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GCC128 · INTELIGÊNCIA ARTIFICIAL · UFLA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48132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Classificação com MLP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3774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Prático 03 — rede neural MLPClassifier aplicada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às bases Iris e Wine, comparada com o KNN do TP01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310128"/>
            <a:ext cx="1005840" cy="27432"/>
          </a:xfrm>
          <a:prstGeom prst="rect">
            <a:avLst/>
          </a:prstGeom>
          <a:solidFill>
            <a:srgbClr val="D99A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520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Pyêtro Augusto Malaquias   ·   Matheus Gomes Monteiro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uma MLP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74320" cy="27432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2070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 em camadas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53619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Entrada, camada oculta e saída. Cada conexão tem um peso ajustável.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274320" cy="27432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3225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por gradiente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5176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pesos são ajustados a cada iteração para reduzir o erro de classificação.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465576"/>
            <a:ext cx="274320" cy="27432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43814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paramétrico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76732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KNN, ela constrói um modelo no treino e depois classifica rápido.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49240" y="1051560"/>
            <a:ext cx="329184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6007608" y="1837944"/>
            <a:ext cx="850392" cy="-22860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07608" y="1837944"/>
            <a:ext cx="850392" cy="27432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07608" y="1837944"/>
            <a:ext cx="850392" cy="77724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07608" y="1837944"/>
            <a:ext cx="850392" cy="128016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07608" y="1837944"/>
            <a:ext cx="850392" cy="178308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6007608" y="2340864"/>
            <a:ext cx="850392" cy="-73152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007608" y="2340864"/>
            <a:ext cx="850392" cy="-22860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07608" y="2340864"/>
            <a:ext cx="850392" cy="27432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07608" y="2340864"/>
            <a:ext cx="850392" cy="77724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07608" y="2340864"/>
            <a:ext cx="850392" cy="128016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6007608" y="2843784"/>
            <a:ext cx="850392" cy="-123444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6007608" y="2843784"/>
            <a:ext cx="850392" cy="-73152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6007608" y="2843784"/>
            <a:ext cx="850392" cy="-22860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07608" y="2843784"/>
            <a:ext cx="850392" cy="27432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07608" y="2843784"/>
            <a:ext cx="850392" cy="77724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6007608" y="3346704"/>
            <a:ext cx="850392" cy="-173736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6007608" y="3346704"/>
            <a:ext cx="850392" cy="-123444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6007608" y="3346704"/>
            <a:ext cx="850392" cy="-73152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007608" y="3346704"/>
            <a:ext cx="850392" cy="-22860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07608" y="3346704"/>
            <a:ext cx="850392" cy="27432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59168" y="1609344"/>
            <a:ext cx="850392" cy="50292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59168" y="1609344"/>
            <a:ext cx="850392" cy="100584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59168" y="1609344"/>
            <a:ext cx="850392" cy="150876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59168" y="2112264"/>
            <a:ext cx="850392" cy="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59168" y="2112264"/>
            <a:ext cx="850392" cy="50292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59168" y="2112264"/>
            <a:ext cx="850392" cy="100584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7059168" y="2615184"/>
            <a:ext cx="850392" cy="-50292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59168" y="2615184"/>
            <a:ext cx="850392" cy="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59168" y="2615184"/>
            <a:ext cx="850392" cy="50292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7059168" y="3118104"/>
            <a:ext cx="850392" cy="-100584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7059168" y="3118104"/>
            <a:ext cx="850392" cy="-50292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59168" y="3118104"/>
            <a:ext cx="850392" cy="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7059168" y="3621024"/>
            <a:ext cx="850392" cy="-150876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7059168" y="3621024"/>
            <a:ext cx="850392" cy="-100584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7059168" y="3621024"/>
            <a:ext cx="850392" cy="-502920"/>
          </a:xfrm>
          <a:prstGeom prst="line">
            <a:avLst/>
          </a:prstGeom>
          <a:noFill/>
          <a:ln w="6350">
            <a:solidFill>
              <a:srgbClr val="D8D2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06440" y="1737360"/>
            <a:ext cx="201168" cy="201168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49" name="Shape 47"/>
          <p:cNvSpPr/>
          <p:nvPr/>
        </p:nvSpPr>
        <p:spPr>
          <a:xfrm>
            <a:off x="5806440" y="2240280"/>
            <a:ext cx="201168" cy="201168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50" name="Shape 48"/>
          <p:cNvSpPr/>
          <p:nvPr/>
        </p:nvSpPr>
        <p:spPr>
          <a:xfrm>
            <a:off x="5806440" y="2743200"/>
            <a:ext cx="201168" cy="201168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51" name="Shape 49"/>
          <p:cNvSpPr/>
          <p:nvPr/>
        </p:nvSpPr>
        <p:spPr>
          <a:xfrm>
            <a:off x="5806440" y="3246120"/>
            <a:ext cx="201168" cy="201168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52" name="Shape 50"/>
          <p:cNvSpPr/>
          <p:nvPr/>
        </p:nvSpPr>
        <p:spPr>
          <a:xfrm>
            <a:off x="6858000" y="1508760"/>
            <a:ext cx="201168" cy="201168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53" name="Shape 51"/>
          <p:cNvSpPr/>
          <p:nvPr/>
        </p:nvSpPr>
        <p:spPr>
          <a:xfrm>
            <a:off x="6858000" y="2011680"/>
            <a:ext cx="201168" cy="201168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54" name="Shape 52"/>
          <p:cNvSpPr/>
          <p:nvPr/>
        </p:nvSpPr>
        <p:spPr>
          <a:xfrm>
            <a:off x="6858000" y="2514600"/>
            <a:ext cx="201168" cy="201168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55" name="Shape 53"/>
          <p:cNvSpPr/>
          <p:nvPr/>
        </p:nvSpPr>
        <p:spPr>
          <a:xfrm>
            <a:off x="6858000" y="3017520"/>
            <a:ext cx="201168" cy="201168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56" name="Shape 54"/>
          <p:cNvSpPr/>
          <p:nvPr/>
        </p:nvSpPr>
        <p:spPr>
          <a:xfrm>
            <a:off x="6858000" y="3520440"/>
            <a:ext cx="201168" cy="201168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57" name="Shape 55"/>
          <p:cNvSpPr/>
          <p:nvPr/>
        </p:nvSpPr>
        <p:spPr>
          <a:xfrm>
            <a:off x="7909560" y="2011680"/>
            <a:ext cx="201168" cy="201168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58" name="Shape 56"/>
          <p:cNvSpPr/>
          <p:nvPr/>
        </p:nvSpPr>
        <p:spPr>
          <a:xfrm>
            <a:off x="7909560" y="2514600"/>
            <a:ext cx="201168" cy="201168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59" name="Shape 57"/>
          <p:cNvSpPr/>
          <p:nvPr/>
        </p:nvSpPr>
        <p:spPr>
          <a:xfrm>
            <a:off x="7909560" y="3017520"/>
            <a:ext cx="201168" cy="201168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5486400" y="39776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6537960" y="39776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 (100)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7589520" y="39776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bases de dados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8138160" cy="1188720"/>
          </a:xfrm>
          <a:prstGeom prst="roundRect">
            <a:avLst>
              <a:gd name="adj" fmla="val 6154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82296" cy="1188720"/>
          </a:xfrm>
          <a:prstGeom prst="rect">
            <a:avLst/>
          </a:prstGeom>
          <a:solidFill>
            <a:srgbClr val="5B3E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4813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3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783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783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783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espécies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8138160" cy="1188720"/>
          </a:xfrm>
          <a:prstGeom prst="roundRect">
            <a:avLst>
              <a:gd name="adj" fmla="val 6154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468880"/>
            <a:ext cx="82296" cy="1188720"/>
          </a:xfrm>
          <a:prstGeom prst="rect">
            <a:avLst/>
          </a:prstGeom>
          <a:solidFill>
            <a:srgbClr val="7FA8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28529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A8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Wine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2743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3154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2743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3154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2743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3154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886200"/>
            <a:ext cx="8138160" cy="594360"/>
          </a:xfrm>
          <a:prstGeom prst="roundRect">
            <a:avLst>
              <a:gd name="adj" fmla="val 9231"/>
            </a:avLst>
          </a:prstGeom>
          <a:solidFill>
            <a:srgbClr val="2B1B4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2920" y="38862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70% treino / 30% teste, estratificada, com semente fixa — o MLP e o KNN recebem exatamente as mesmas amostras.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padronizar os atributos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MLP aprende por gradiente. Atributos em escalas muito diferentes desestabilizam o treinamento.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5669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 da MLP, 10 sementes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padronizar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padronizar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1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Iris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0,9778 ± 0,0000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0,9178 ± 0,0102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1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Wine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0,7481 ± 0,2552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0,9815 ± 0,0117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88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1325880"/>
            <a:ext cx="2194560" cy="1298448"/>
          </a:xfrm>
          <a:prstGeom prst="roundRect">
            <a:avLst>
              <a:gd name="adj" fmla="val 5634"/>
            </a:avLst>
          </a:prstGeom>
          <a:solidFill>
            <a:srgbClr val="D99A3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46520" y="1463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27,8%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 caso na Wine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padronização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880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Wine o atributo proline varia mais de 1.400 unidades, enquanto outros variam menos de 1. Sem padronizar, o desvio padrão entre sementes chega a 0,2552 — o modelo às vezes simplesmente não aprende. Na Iris, com todos os atributos em centímetros, a rede funciona nos dois casos.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384048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E8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3840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aplicada dentro de um Pipeline: média e desvio calculados só no treino, sem vazamento para o teste.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Configuração do classificador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2B1B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17043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make_pipeline(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StandardScaler(),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MLPClassifier(hidden_layer_sizes=(100,), max_iter=2000, random_state=42))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camada oculta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neurônios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78608" y="21945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78608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78608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ativação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54296" y="21945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54296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9984" y="21945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9984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29984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de iterações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4290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Convergência: 523 iterações na Iris, 264 na Wine. O KNN usa k = 5, o melhor valor obtido no TP01, sobre as mesmas partições.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Matrizes de confusão</a:t>
            </a:r>
            <a:endParaRPr lang="en-US" sz="2900" dirty="0"/>
          </a:p>
        </p:txBody>
      </p:sp>
      <p:pic>
        <p:nvPicPr>
          <p:cNvPr id="3" name="Image 0" descr="fi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960120"/>
            <a:ext cx="53949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avaliação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737360"/>
                <a:gridCol w="173736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/ Classificador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Revocação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4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1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Iris — MLPClassifier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1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Iris — KNN (k=5)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1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Wine — MLPClassifier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8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8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88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1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Wine — KNN (k=5)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94,44%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33375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e revocação em média macro. As duas bases foram avaliadas sobre as mesmas partições de teste.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3703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3703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Iris os dois empatam. Na Wine o MLP classifica corretamente todas as 54 amostras de teste.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MLPClassifier × KNN do TP01</a:t>
            </a:r>
            <a:endParaRPr lang="en-US" sz="2900" dirty="0"/>
          </a:p>
        </p:txBody>
      </p:sp>
      <p:pic>
        <p:nvPicPr>
          <p:cNvPr id="3" name="Image 0" descr="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572000" cy="2615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57800" y="10058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2B1B47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257800" y="11704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Iris: empate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153619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simples, 4 atributos, fronteira fácil. A capacidade extra da rede não encontra o que explorar.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257800" y="23774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D99A3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257800" y="25420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Wine: MLP vence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290779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atributos. A classe vem de combinações entre eles, que a rede aprende nos pesos.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7947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KNN depende de que amostras da mesma classe fiquem próximas no espaço original — propriedade que se degrada conforme a dimensão aumenta.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naturezas diferentes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886200" cy="3017520"/>
          </a:xfrm>
          <a:prstGeom prst="roundRect">
            <a:avLst>
              <a:gd name="adj" fmla="val 2424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298448"/>
            <a:ext cx="292608" cy="292608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3167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instâncias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95528" y="1837944"/>
            <a:ext cx="118872" cy="118872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7830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fase de treinamento — só armazena os dados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528" y="2386584"/>
            <a:ext cx="118872" cy="118872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2331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custo está na hora de classificar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" y="2935224"/>
            <a:ext cx="118872" cy="118872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2880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hiperparâmetro: o valor de 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" y="3483864"/>
            <a:ext cx="118872" cy="118872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34290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o próprio conjunto de dados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051560"/>
            <a:ext cx="3886200" cy="3017520"/>
          </a:xfrm>
          <a:prstGeom prst="roundRect">
            <a:avLst>
              <a:gd name="adj" fmla="val 2424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298448"/>
            <a:ext cx="292608" cy="292608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0352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3167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paramétrico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10328" y="1837944"/>
            <a:ext cx="118872" cy="118872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66360" y="17830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 por iterações: 523 na Iris, 264 na Wine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10328" y="2386584"/>
            <a:ext cx="118872" cy="118872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66360" y="2331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treinado, classifica quase instantâneo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10328" y="2935224"/>
            <a:ext cx="118872" cy="118872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166360" y="2880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ativação, otimizador, taxa de aprendizado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10328" y="3483864"/>
            <a:ext cx="118872" cy="118872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66360" y="34290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são os pesos aprendidos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4206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flexibilidade custa mais configuração: a rede tem muito mais o que ajustar.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3291840"/>
            <a:ext cx="2377440" cy="2377440"/>
          </a:xfrm>
          <a:prstGeom prst="ellipse">
            <a:avLst/>
          </a:prstGeom>
          <a:solidFill>
            <a:srgbClr val="5B3E8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83880" y="-685800"/>
            <a:ext cx="1920240" cy="1920240"/>
          </a:xfrm>
          <a:prstGeom prst="ellipse">
            <a:avLst/>
          </a:prstGeom>
          <a:solidFill>
            <a:srgbClr val="5B3E8E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207008"/>
            <a:ext cx="384048" cy="384048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1887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MLPClassifier foi aplicado às duas bases, com matrizes de confusão e métricas apresentadas para cada uma.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56816"/>
            <a:ext cx="384048" cy="384048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3852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ganho da rede neural não é uniforme: empate na Iris, vantagem clara na Wine, onde há 13 atributos.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06624"/>
            <a:ext cx="384048" cy="384048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68833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4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do classificador depende das características do problema, não de uma superioridade automática do modelo mais complexo.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1280160"/>
            <a:ext cx="2103120" cy="2148840"/>
          </a:xfrm>
          <a:prstGeom prst="roundRect">
            <a:avLst>
              <a:gd name="adj" fmla="val 347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5B3E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14630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7830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(.ipynb)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(.pdf)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9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pyetro_matheus.zip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675888"/>
            <a:ext cx="5669280" cy="5486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367588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da apresentação: </a:t>
            </a:r>
            <a:pPr indent="0" marL="0">
              <a:buNone/>
            </a:pPr>
            <a:r>
              <a:rPr lang="en-US" sz="9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drive.google.com/file/d/1eEwNQ3uJIM0UQ1xQs3mw9czmKX-vN0mB/view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3708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Pyêtro Augusto Malaquias  ·  Matheus Gomes Monteiro  ·  GCC128 — UFLA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Prático 03 - MLPClassifier</dc:title>
  <dc:subject>PptxGenJS Presentation</dc:subject>
  <dc:creator>Pyêtro Augusto Malaquias e Matheus Gomes Monteiro</dc:creator>
  <cp:lastModifiedBy>Pyêtro Augusto Malaquias e Matheus Gomes Monteiro</cp:lastModifiedBy>
  <cp:revision>1</cp:revision>
  <dcterms:created xsi:type="dcterms:W3CDTF">2026-09-30T22:42:56Z</dcterms:created>
  <dcterms:modified xsi:type="dcterms:W3CDTF">2026-09-30T22:42:56Z</dcterms:modified>
</cp:coreProperties>
</file>