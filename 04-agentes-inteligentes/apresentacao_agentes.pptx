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Abertura, 20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45 segundos. Descrição da aplicação — requisito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50 segundos. Fundamentação conceitual.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Pyêtro. 50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55 segundos. Slide do desenho dos agentes — requisito explícito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50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55 segundos. Evidência central: mesmo código, rotas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45 segundos.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55 segundos. Conclusões — requisito do enunciado.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Matheus. 20 segundos. Encerramento. Colar o link do vídeo antes de enviar.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drive.google.com/file/d/14WK4dGtX3gaEYEWBiOukdkI6LJMBDrY7/view?usp=shar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8272" y="1444752"/>
            <a:ext cx="731520" cy="795528"/>
          </a:xfrm>
          <a:prstGeom prst="line">
            <a:avLst/>
          </a:prstGeom>
          <a:noFill/>
          <a:ln w="12700">
            <a:solidFill>
              <a:srgbClr val="6B5A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02752" y="1719072"/>
            <a:ext cx="-822960" cy="521208"/>
          </a:xfrm>
          <a:prstGeom prst="line">
            <a:avLst/>
          </a:prstGeom>
          <a:noFill/>
          <a:ln w="12700">
            <a:solidFill>
              <a:srgbClr val="6B5A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V="1">
            <a:off x="6565392" y="2907792"/>
            <a:ext cx="914400" cy="667512"/>
          </a:xfrm>
          <a:prstGeom prst="line">
            <a:avLst/>
          </a:prstGeom>
          <a:noFill/>
          <a:ln w="12700">
            <a:solidFill>
              <a:srgbClr val="6B5A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8211312" y="3090672"/>
            <a:ext cx="-731520" cy="850392"/>
          </a:xfrm>
          <a:prstGeom prst="line">
            <a:avLst/>
          </a:prstGeom>
          <a:noFill/>
          <a:ln w="12700">
            <a:solidFill>
              <a:srgbClr val="6B5A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629400" y="1325880"/>
            <a:ext cx="237744" cy="237744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1600200"/>
            <a:ext cx="237744" cy="237744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8" name="Shape 6"/>
          <p:cNvSpPr/>
          <p:nvPr/>
        </p:nvSpPr>
        <p:spPr>
          <a:xfrm>
            <a:off x="6446520" y="2788920"/>
            <a:ext cx="237744" cy="237744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9" name="Shape 7"/>
          <p:cNvSpPr/>
          <p:nvPr/>
        </p:nvSpPr>
        <p:spPr>
          <a:xfrm>
            <a:off x="8092440" y="2971800"/>
            <a:ext cx="237744" cy="237744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0" name="Shape 8"/>
          <p:cNvSpPr/>
          <p:nvPr/>
        </p:nvSpPr>
        <p:spPr>
          <a:xfrm>
            <a:off x="7196328" y="1956816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GCC128 · INTELIGÊNCIA ARTIFICIAL · UFLA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1481328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Agentes Inteligentes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39572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Prático 04 — uma equipe de agentes que planeja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viagens, coordenada por um supervisor (LangGraph + Groq)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310128"/>
            <a:ext cx="1005840" cy="27432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3520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 ·   Matheus Gomes Monteiro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aplicação: assistente de viagens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usuário descreve a viagem que quer fazer. A equipe levanta o que for necessário e devolve uma recomendação.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298448"/>
            <a:ext cx="7589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do usuário:  </a:t>
            </a:r>
            <a:pPr indent="0" marL="0">
              <a:lnSpc>
                <a:spcPts val="1400"/>
              </a:lnSpc>
              <a:buNone/>
            </a:pPr>
            <a:r>
              <a:rPr lang="en-US" sz="1150" i="1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 a Ouro Preto neste fim de semana saindo de Lavras. O que visitar, como estará o tempo e quanto gasto de combustível em 320 km?"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2240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68880"/>
            <a:ext cx="292608" cy="29260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43000" y="24505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agentes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9077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levantam dados, um escreve a recomendação final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2240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468880"/>
            <a:ext cx="292608" cy="292608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931920" y="24505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ferramentas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29077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Wikipédia, previsão do tempo e calculadora de custos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2240280"/>
            <a:ext cx="25603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2468880"/>
            <a:ext cx="292608" cy="29260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720840" y="24505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 variável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907792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trabalha em cada pedido é decidido em execução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858768"/>
            <a:ext cx="8138160" cy="566928"/>
          </a:xfrm>
          <a:prstGeom prst="roundRect">
            <a:avLst>
              <a:gd name="adj" fmla="val 9677"/>
            </a:avLst>
          </a:prstGeom>
          <a:solidFill>
            <a:srgbClr val="2B1B4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02920" y="38587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LLM gratuito do Groq (openai/gpt-oss-20b) · nenhuma das ferramentas exige chave de API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faz disso um agente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170432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60120" y="1143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não executa nada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1472184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devolve um pedido estruturado dizendo qual função chamar e com quais argumentos. Quem executa é o nosso código.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60120" y="221284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ancora na realidade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54203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ela o modelo responderia de memória. Com ela, a previsão do tempo e o custo vêm de dados reais.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10128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328269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não está no código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611880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linha diz "primeiro pesquise, depois calcule". Um supervisor decide a cada rodada quem 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40680" y="1143000"/>
            <a:ext cx="3200400" cy="3017520"/>
          </a:xfrm>
          <a:prstGeom prst="roundRect">
            <a:avLst>
              <a:gd name="adj" fmla="val 2424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0" y="135331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ReAct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715000" y="1783080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150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8013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raciocinar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819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decide o que fazer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715000" y="2350008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7150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36829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agir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132320" y="238658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é executada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715000" y="2916936"/>
            <a:ext cx="384048" cy="384048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715000" y="2916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217920" y="29352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observar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2953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resultado volta ao LLM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15000" y="3483864"/>
            <a:ext cx="384048" cy="384048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715000" y="3483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6217920" y="350215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520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falta mais nada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ferramentas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Python comuns com o decorator @tool. O docstring é o único texto que o LLM lê para decidir quando usar cada uma.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2560320" cy="54864"/>
          </a:xfrm>
          <a:prstGeom prst="rect">
            <a:avLst/>
          </a:prstGeom>
          <a:solidFill>
            <a:srgbClr val="5B3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04088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buscar_destino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3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Wikipédia (pt)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destino oferece: história, atrações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1325880"/>
            <a:ext cx="2560320" cy="54864"/>
          </a:xfrm>
          <a:prstGeom prst="rect">
            <a:avLst/>
          </a:prstGeom>
          <a:solidFill>
            <a:srgbClr val="7FA8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93008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consultar_clima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Open-Meteo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493008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atual e previsão de 3 dias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325880"/>
            <a:ext cx="25603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0760" y="1325880"/>
            <a:ext cx="2560320" cy="54864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81928" y="15361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281928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281928" y="2176272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orçamento: combustível, diárias, divisão de despesas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108960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2B1B47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3200400"/>
            <a:ext cx="7589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@tool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consultar_clima(cidade: str) -&gt; str: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"""Consulta a temperatura atual e a previsão dos próximos 3 dias.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C9B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Use quando a viagem depender do tempo: o que levar na mala..."""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413308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resume o material da disciplina: docstring ruim é agente que não sabe usar a ferramenta.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desenho dos agentes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2212848"/>
            <a:ext cx="868680" cy="457200"/>
          </a:xfrm>
          <a:prstGeom prst="roundRect">
            <a:avLst>
              <a:gd name="adj" fmla="val 16000"/>
            </a:avLst>
          </a:prstGeom>
          <a:solidFill>
            <a:srgbClr val="E9E3F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2212848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71600" y="2441448"/>
            <a:ext cx="384048" cy="0"/>
          </a:xfrm>
          <a:prstGeom prst="line">
            <a:avLst/>
          </a:prstGeom>
          <a:noFill/>
          <a:ln w="22225">
            <a:solidFill>
              <a:srgbClr val="5B3E8E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755648" y="2057400"/>
            <a:ext cx="1691640" cy="777240"/>
          </a:xfrm>
          <a:prstGeom prst="roundRect">
            <a:avLst>
              <a:gd name="adj" fmla="val 9412"/>
            </a:avLst>
          </a:prstGeom>
          <a:solidFill>
            <a:srgbClr val="2B1B4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755648" y="215798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755648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quem age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92040" y="1078992"/>
            <a:ext cx="2743200" cy="694944"/>
          </a:xfrm>
          <a:prstGeom prst="roundRect">
            <a:avLst>
              <a:gd name="adj" fmla="val 9211"/>
            </a:avLst>
          </a:prstGeom>
          <a:solidFill>
            <a:srgbClr val="F7F5FA"/>
          </a:solidFill>
          <a:ln w="15875">
            <a:solidFill>
              <a:srgbClr val="5B3E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4064" y="1280160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68112" y="115214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68112" y="1444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3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buscar_destino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flipV="1">
            <a:off x="3447288" y="1426464"/>
            <a:ext cx="1444752" cy="1019556"/>
          </a:xfrm>
          <a:prstGeom prst="line">
            <a:avLst/>
          </a:prstGeom>
          <a:noFill/>
          <a:ln w="17780">
            <a:solidFill>
              <a:srgbClr val="5B3E8E"/>
            </a:solidFill>
            <a:prstDash val="dash"/>
            <a:headEnd type="triangl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92040" y="1920240"/>
            <a:ext cx="2743200" cy="694944"/>
          </a:xfrm>
          <a:prstGeom prst="roundRect">
            <a:avLst>
              <a:gd name="adj" fmla="val 9211"/>
            </a:avLst>
          </a:prstGeom>
          <a:solidFill>
            <a:srgbClr val="F7F5FA"/>
          </a:solidFill>
          <a:ln w="15875">
            <a:solidFill>
              <a:srgbClr val="7FA8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84064" y="2121408"/>
            <a:ext cx="274320" cy="27432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68112" y="199339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meteorologista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5468112" y="22860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FA8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consultar_clima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flipV="1">
            <a:off x="3447288" y="2267712"/>
            <a:ext cx="1444752" cy="178308"/>
          </a:xfrm>
          <a:prstGeom prst="line">
            <a:avLst/>
          </a:prstGeom>
          <a:noFill/>
          <a:ln w="17780">
            <a:solidFill>
              <a:srgbClr val="7FA88C"/>
            </a:solidFill>
            <a:prstDash val="dash"/>
            <a:headEnd type="triangl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92040" y="2761488"/>
            <a:ext cx="2743200" cy="694944"/>
          </a:xfrm>
          <a:prstGeom prst="roundRect">
            <a:avLst>
              <a:gd name="adj" fmla="val 9211"/>
            </a:avLst>
          </a:prstGeom>
          <a:solidFill>
            <a:srgbClr val="F7F5FA"/>
          </a:solidFill>
          <a:ln w="15875">
            <a:solidFill>
              <a:srgbClr val="D99A3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84064" y="2962656"/>
            <a:ext cx="274320" cy="27432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68112" y="28346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orcamentista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68112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47288" y="2446020"/>
            <a:ext cx="1444752" cy="662940"/>
          </a:xfrm>
          <a:prstGeom prst="line">
            <a:avLst/>
          </a:prstGeom>
          <a:noFill/>
          <a:ln w="17780">
            <a:solidFill>
              <a:srgbClr val="D99A3E"/>
            </a:solidFill>
            <a:prstDash val="dash"/>
            <a:headEnd type="triangl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892040" y="3602736"/>
            <a:ext cx="2743200" cy="694944"/>
          </a:xfrm>
          <a:prstGeom prst="roundRect">
            <a:avLst>
              <a:gd name="adj" fmla="val 9211"/>
            </a:avLst>
          </a:prstGeom>
          <a:solidFill>
            <a:srgbClr val="F7F5FA"/>
          </a:solidFill>
          <a:ln w="15875">
            <a:solidFill>
              <a:srgbClr val="5B3E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84064" y="3803904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68112" y="367588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5468112" y="396849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3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 ferramenta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447288" y="2446020"/>
            <a:ext cx="1444752" cy="1504188"/>
          </a:xfrm>
          <a:prstGeom prst="line">
            <a:avLst/>
          </a:prstGeom>
          <a:noFill/>
          <a:ln w="17780">
            <a:solidFill>
              <a:srgbClr val="5B3E8E"/>
            </a:solidFill>
            <a:prstDash val="dash"/>
            <a:headEnd type="triangl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029968" y="3794760"/>
            <a:ext cx="1143000" cy="457200"/>
          </a:xfrm>
          <a:prstGeom prst="roundRect">
            <a:avLst>
              <a:gd name="adj" fmla="val 16000"/>
            </a:avLst>
          </a:prstGeom>
          <a:solidFill>
            <a:srgbClr val="E9E3F2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2029968" y="379476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606040" y="2834640"/>
            <a:ext cx="0" cy="960120"/>
          </a:xfrm>
          <a:prstGeom prst="line">
            <a:avLst/>
          </a:prstGeom>
          <a:noFill/>
          <a:ln w="22225">
            <a:solidFill>
              <a:srgbClr val="D99A3E"/>
            </a:solidFill>
            <a:prstDash val="dash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2697480" y="315468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517136"/>
            <a:ext cx="411480" cy="0"/>
          </a:xfrm>
          <a:prstGeom prst="line">
            <a:avLst/>
          </a:prstGeom>
          <a:noFill/>
          <a:ln w="17780">
            <a:solidFill>
              <a:srgbClr val="5B3E8E"/>
            </a:solidFill>
            <a:prstDash val="dash"/>
            <a:headEnd type="triangle"/>
            <a:tailEnd type="triangle"/>
          </a:ln>
        </p:spPr>
      </p:sp>
      <p:sp>
        <p:nvSpPr>
          <p:cNvPr id="34" name="Text 32"/>
          <p:cNvSpPr txBox="1"/>
          <p:nvPr/>
        </p:nvSpPr>
        <p:spPr>
          <a:xfrm>
            <a:off x="1078992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supervisor aciona o especialista e recebe de volta o controle — quais deles, e em que ordem, é decidido em execução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supervisor decide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24128"/>
            <a:ext cx="4846320" cy="2286000"/>
          </a:xfrm>
          <a:prstGeom prst="roundRect">
            <a:avLst>
              <a:gd name="adj" fmla="val 2400"/>
            </a:avLst>
          </a:prstGeom>
          <a:solidFill>
            <a:srgbClr val="2B1B4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70432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supervisor(estado):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ja = estado.get("ja_atuaram", [])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resposta = llm.invoke(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[("system", instrucao)] + estado["messages"]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).content.lower()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papel in PAPEIS: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papel in resposta and papel not in ja: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{"proximo": papel}</a:t>
            </a:r>
            <a:endParaRPr lang="en-US" sz="1000" dirty="0"/>
          </a:p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E8E4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{"proximo": "FIM"}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577840" y="1133856"/>
            <a:ext cx="219456" cy="219456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925312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a conversa inteira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925312" y="1389888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responde uma única palavra: quem age agora, ou FIM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0" y="1901952"/>
            <a:ext cx="219456" cy="219456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25312" y="1865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Checa o pedido parte por parte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925312" y="2157984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destino? tempo? conta? cada parte tem seu especialista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577840" y="2670048"/>
            <a:ext cx="219456" cy="219456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25312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ja_atuaram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925312" y="292608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não acionar duas vezes o mesmo especialista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3493008"/>
            <a:ext cx="81381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7240" y="3493008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checar parte por parte.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primeira execução, o pesquisador respondeu também sobre clima e custo — calculou o combustível de cabeça e errou o valor. O supervisor viu uma resposta completa e encerrou cedo.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Mesmo código, rotas diferentes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89611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pedidos à mesma aplicação. O supervisor aciona só quem o pedido exige.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64008" cy="841248"/>
          </a:xfrm>
          <a:prstGeom prst="rect">
            <a:avLst/>
          </a:prstGeom>
          <a:solidFill>
            <a:srgbClr val="5B3E8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38988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tem para ver em Ouro Preto?"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77640" y="155448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5B3E8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977640" y="155448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304288"/>
            <a:ext cx="64008" cy="841248"/>
          </a:xfrm>
          <a:prstGeom prst="rect">
            <a:avLst/>
          </a:prstGeom>
          <a:solidFill>
            <a:srgbClr val="7FA8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39572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"Vou a Tiradentes amanhã. Preciso levar guarda-chuva?"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977640" y="256032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7FA88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977640" y="25603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meteorologista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310128"/>
            <a:ext cx="8138160" cy="841248"/>
          </a:xfrm>
          <a:prstGeom prst="roundRect">
            <a:avLst>
              <a:gd name="adj" fmla="val 7609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310128"/>
            <a:ext cx="64008" cy="841248"/>
          </a:xfrm>
          <a:prstGeom prst="rect">
            <a:avLst/>
          </a:prstGeom>
          <a:solidFill>
            <a:srgbClr val="D99A3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3401568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2E2A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 que visitar, como estará o tempo e quanto gasto de combustível?"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977640" y="356616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D99A3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77640" y="3566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3566160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120640" y="356616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D99A3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120640" y="3566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meteorologista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566160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356616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D99A3E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63640" y="3566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orcamentista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0" y="3566160"/>
            <a:ext cx="91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06640" y="3566160"/>
            <a:ext cx="1051560" cy="329184"/>
          </a:xfrm>
          <a:prstGeom prst="roundRect">
            <a:avLst>
              <a:gd name="adj" fmla="val 13889"/>
            </a:avLst>
          </a:prstGeom>
          <a:solidFill>
            <a:srgbClr val="D99A3E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06640" y="356616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redator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rota muda porque quem a decide é o LLM do supervisor, não o código.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Agente ou pipeline?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931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261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00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  = buscar_destino(...)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 = consultar_clima(...)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llm.invoke(resumo)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4871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está escrita no código. Sempre busca, sempre consulta o clima — mesmo quando o usuário não perguntou do tempo.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1051560"/>
            <a:ext cx="39319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9050">
            <a:solidFill>
              <a:srgbClr val="7FA88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2618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1600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supervisor decide a rota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especialista age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E2A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volta ao supervisor ... até FIM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48716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sequência é decidida em execução, a partir do que o usuário pediu. Na Demonstração 1 o clima nem chegou a ser consultado.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657600"/>
            <a:ext cx="8138160" cy="749808"/>
          </a:xfrm>
          <a:prstGeom prst="roundRect">
            <a:avLst>
              <a:gd name="adj" fmla="val 7317"/>
            </a:avLst>
          </a:prstGeom>
          <a:solidFill>
            <a:srgbClr val="2B1B4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657600"/>
            <a:ext cx="7498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teste:  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eu tirar o LLM, o fluxo do programa muda?   No pipeline, não — a ordem é fixa. Na equipe, sim — sem supervisor não há quem decida a rota. Pipeline não é ruim; só não é agente.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2B1B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Conclusões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3886200" cy="1389888"/>
          </a:xfrm>
          <a:prstGeom prst="roundRect">
            <a:avLst>
              <a:gd name="adj" fmla="val 526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71016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4712" y="12527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colaboração funcionou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5506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especialista recebeu um papel estreito e só as ferramentas do seu domínio. O supervisor compôs as contribuições conforme o pedido.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617720" y="1051560"/>
            <a:ext cx="3886200" cy="1389888"/>
          </a:xfrm>
          <a:prstGeom prst="roundRect">
            <a:avLst>
              <a:gd name="adj" fmla="val 526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71016"/>
            <a:ext cx="274320" cy="274320"/>
          </a:xfrm>
          <a:prstGeom prst="ellipse">
            <a:avLst/>
          </a:prstGeom>
          <a:solidFill>
            <a:srgbClr val="7FA88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39512" y="125272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ferramenta ancora o agente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5506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não executa nada: devolve o pedido, nosso código executa. A previsão e o custo vêm de dados reais, não de estimativa do modelo.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624328"/>
            <a:ext cx="3886200" cy="1389888"/>
          </a:xfrm>
          <a:prstGeom prst="roundRect">
            <a:avLst>
              <a:gd name="adj" fmla="val 526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2843784"/>
            <a:ext cx="274320" cy="274320"/>
          </a:xfrm>
          <a:prstGeom prst="ellipse">
            <a:avLst/>
          </a:prstGeom>
          <a:solidFill>
            <a:srgbClr val="D99A3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24712" y="28254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Delimitar o escopo importa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22783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tende a responder tudo que lhe perguntam, mesmo fora do seu papel. Foi preciso dizer a cada agente o que ele NÃO deve fazer.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2624328"/>
            <a:ext cx="3886200" cy="1389888"/>
          </a:xfrm>
          <a:prstGeom prst="roundRect">
            <a:avLst>
              <a:gd name="adj" fmla="val 5263"/>
            </a:avLst>
          </a:prstGeom>
          <a:solidFill>
            <a:srgbClr val="F7F5FA"/>
          </a:solidFill>
          <a:ln w="12700">
            <a:solidFill>
              <a:srgbClr val="E3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2843784"/>
            <a:ext cx="274320" cy="274320"/>
          </a:xfrm>
          <a:prstGeom prst="ellipse">
            <a:avLst/>
          </a:prstGeom>
          <a:solidFill>
            <a:srgbClr val="5B3E8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239512" y="2825496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Flexível e menos previsível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227832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o LLM que decide a rota, o limite de passos deixa de ser detalhe e passa a ser proteção necessária.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25196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6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memória entre execuções e sem aprovação humana: com checkpointer e interrupt, o grafo lembraria do histórico e pausaria antes de uma ação sensível.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3291840"/>
            <a:ext cx="2377440" cy="2377440"/>
          </a:xfrm>
          <a:prstGeom prst="ellipse">
            <a:avLst/>
          </a:prstGeom>
          <a:solidFill>
            <a:srgbClr val="5B3E8E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83880" y="-685800"/>
            <a:ext cx="1920240" cy="1920240"/>
          </a:xfrm>
          <a:prstGeom prst="ellipse">
            <a:avLst/>
          </a:prstGeom>
          <a:solidFill>
            <a:srgbClr val="5B3E8E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65836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2588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D8C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Planejamento de Viagens — uma equipe de 4 agentes com 3 ferramentas, coordenada por um supervisor que decide a rota em execução.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88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2788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2240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9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7889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8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chaves pagas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1280160"/>
            <a:ext cx="2103120" cy="1920240"/>
          </a:xfrm>
          <a:prstGeom prst="roundRect">
            <a:avLst>
              <a:gd name="adj" fmla="val 381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5B3E8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630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7FA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(.ipynb)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27432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99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pyetro_matheus.zip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40080" y="3675888"/>
            <a:ext cx="5669280" cy="54864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D99A3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1248" y="367588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da apresentação: </a:t>
            </a:r>
            <a:pPr indent="0" marL="0">
              <a:buNone/>
            </a:pPr>
            <a:r>
              <a:rPr lang="en-US" sz="9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drive.google.com/file/d/14WK4dGtX3gaEYEWBiOukdkI6LJMBDrY7/view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3708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B9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Pyêtro Augusto Malaquias  ·  Matheus Gomes Monteiro  ·  GCC128 — UFLA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Trabalho Prático 04 - Agentes Inteligentes</dc:title>
  <dc:subject>PptxGenJS Presentation</dc:subject>
  <dc:creator>Pyêtro Augusto Malaquias e Matheus Gomes Monteiro</dc:creator>
  <cp:lastModifiedBy>Pyêtro Augusto Malaquias e Matheus Gomes Monteiro</cp:lastModifiedBy>
  <cp:revision>1</cp:revision>
  <dcterms:created xsi:type="dcterms:W3CDTF">2026-10-15T00:07:28Z</dcterms:created>
  <dcterms:modified xsi:type="dcterms:W3CDTF">2026-10-15T00:07:28Z</dcterms:modified>
</cp:coreProperties>
</file>